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3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4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6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2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8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3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9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54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88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28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9568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67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79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60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95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1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FD1B77C-3326-46D1-9EC1-13AFE3F6A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0302C-F82A-437E-B837-75E978F5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60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7286-93D4-EFD0-322F-5AF9D8C3D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996" y="1032421"/>
            <a:ext cx="9134008" cy="4498949"/>
          </a:xfrm>
        </p:spPr>
        <p:txBody>
          <a:bodyPr>
            <a:noAutofit/>
          </a:bodyPr>
          <a:lstStyle/>
          <a:p>
            <a:r>
              <a:rPr lang="en-US" sz="9600" dirty="0">
                <a:latin typeface="Aharoni" panose="02010803020104030203" pitchFamily="2" charset="-79"/>
                <a:cs typeface="Aharoni" panose="02010803020104030203" pitchFamily="2" charset="-79"/>
              </a:rPr>
              <a:t>Foundation of Algorithm Analysis </a:t>
            </a:r>
          </a:p>
        </p:txBody>
      </p:sp>
    </p:spTree>
    <p:extLst>
      <p:ext uri="{BB962C8B-B14F-4D97-AF65-F5344CB8AC3E}">
        <p14:creationId xmlns:p14="http://schemas.microsoft.com/office/powerpoint/2010/main" val="135409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EC69-D0EF-3400-FEA8-E201F9DD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187437" cy="836436"/>
          </a:xfrm>
        </p:spPr>
        <p:txBody>
          <a:bodyPr/>
          <a:lstStyle/>
          <a:p>
            <a:r>
              <a:rPr lang="en-US" b="1" dirty="0"/>
              <a:t>What is an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913E-9305-2337-94F0-61F572AD4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177"/>
            <a:ext cx="10515600" cy="55662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 </a:t>
            </a:r>
            <a:r>
              <a:rPr lang="en-US" b="1" dirty="0"/>
              <a:t>algorithm</a:t>
            </a:r>
            <a:r>
              <a:rPr lang="en-US" dirty="0"/>
              <a:t> is a finite set of well-defined steps used to solve a problem.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u="sng" dirty="0"/>
              <a:t>Properties of an Algorithm</a:t>
            </a:r>
          </a:p>
          <a:p>
            <a:r>
              <a:rPr lang="en-US" sz="2400" b="1" dirty="0"/>
              <a:t>Input</a:t>
            </a:r>
            <a:r>
              <a:rPr lang="en-US" sz="2400" dirty="0"/>
              <a:t> – Takes zero or more inputs</a:t>
            </a:r>
          </a:p>
          <a:p>
            <a:r>
              <a:rPr lang="en-US" sz="2400" b="1" dirty="0"/>
              <a:t>Output</a:t>
            </a:r>
            <a:r>
              <a:rPr lang="en-US" sz="2400" dirty="0"/>
              <a:t> – Produces at least one output</a:t>
            </a:r>
          </a:p>
          <a:p>
            <a:r>
              <a:rPr lang="en-US" sz="2400" b="1" dirty="0"/>
              <a:t>Definiteness</a:t>
            </a:r>
            <a:r>
              <a:rPr lang="en-US" sz="2400" dirty="0"/>
              <a:t> – Each step is clear and unambiguous</a:t>
            </a:r>
          </a:p>
          <a:p>
            <a:r>
              <a:rPr lang="en-US" sz="2400" b="1" dirty="0"/>
              <a:t>Finiteness</a:t>
            </a:r>
            <a:r>
              <a:rPr lang="en-US" sz="2400" dirty="0"/>
              <a:t> – Terminates after a finite number of steps</a:t>
            </a:r>
          </a:p>
          <a:p>
            <a:r>
              <a:rPr lang="en-US" sz="2400" b="1" dirty="0"/>
              <a:t>Effectiveness</a:t>
            </a:r>
            <a:r>
              <a:rPr lang="en-US" sz="2400" dirty="0"/>
              <a:t> – Each step is basic and executable</a:t>
            </a:r>
          </a:p>
          <a:p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900" b="1" u="sng" dirty="0"/>
              <a:t>Example : Add two numbers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int a = 5, b = 3;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("Sum = %d", a + b);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71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DAD4-0786-BFCD-812B-93FDFBA7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RAM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C9F7-4B3C-5101-34C1-FB3B262C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83292"/>
            <a:ext cx="8946541" cy="419548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RAM (Random Access Machine) model</a:t>
            </a:r>
            <a:r>
              <a:rPr lang="en-US" dirty="0"/>
              <a:t> is a theoretical model used to analyze algorithms.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Assumptions</a:t>
            </a:r>
          </a:p>
          <a:p>
            <a:r>
              <a:rPr lang="en-US" dirty="0"/>
              <a:t>Each basic operation takes </a:t>
            </a:r>
            <a:r>
              <a:rPr lang="en-US" b="1" dirty="0"/>
              <a:t>constant time O(1)</a:t>
            </a:r>
            <a:endParaRPr lang="en-US" dirty="0"/>
          </a:p>
          <a:p>
            <a:r>
              <a:rPr lang="en-US" dirty="0"/>
              <a:t>Memory access is uniform</a:t>
            </a:r>
          </a:p>
          <a:p>
            <a:r>
              <a:rPr lang="en-US" dirty="0"/>
              <a:t>Sequential execution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Why RAM Model?</a:t>
            </a:r>
          </a:p>
          <a:p>
            <a:r>
              <a:rPr lang="en-US" dirty="0"/>
              <a:t>Simplifies analysis</a:t>
            </a:r>
          </a:p>
          <a:p>
            <a:r>
              <a:rPr lang="en-US" dirty="0"/>
              <a:t>Machine-independent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4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8D77-CABF-6D74-11A6-80EA739E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cs typeface="Aharoni" panose="02010803020104030203" pitchFamily="2" charset="-79"/>
              </a:rPr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CCB71-9775-F275-707E-E5B99B147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6046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Time Complexity</a:t>
            </a:r>
            <a:r>
              <a:rPr lang="en-US" dirty="0"/>
              <a:t> measures how execution time increases with input size 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Common Time Complexities</a:t>
            </a:r>
          </a:p>
          <a:p>
            <a:r>
              <a:rPr lang="en-US" dirty="0"/>
              <a:t>O(1) – Constant</a:t>
            </a:r>
          </a:p>
          <a:p>
            <a:r>
              <a:rPr lang="en-US" dirty="0"/>
              <a:t>O(n) – Linear</a:t>
            </a:r>
          </a:p>
          <a:p>
            <a:r>
              <a:rPr lang="en-US" dirty="0"/>
              <a:t>O(n²) – Quadratic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Example: Loop Execution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, n = 5;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4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7D31-B66F-6DCD-25C2-2F0FAE49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970C-5C23-8F6E-69B0-973AE5E30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Space Complexity</a:t>
            </a:r>
            <a:r>
              <a:rPr lang="en-US" dirty="0"/>
              <a:t> measures the memory used by an algorithm.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Includes</a:t>
            </a:r>
          </a:p>
          <a:p>
            <a:r>
              <a:rPr lang="en-US" dirty="0"/>
              <a:t>Input space</a:t>
            </a:r>
          </a:p>
          <a:p>
            <a:r>
              <a:rPr lang="en-US" dirty="0"/>
              <a:t>Auxiliary </a:t>
            </a:r>
            <a:r>
              <a:rPr lang="en-US" dirty="0" err="1"/>
              <a:t>spaceO</a:t>
            </a:r>
            <a:r>
              <a:rPr lang="en-US" dirty="0"/>
              <a:t>(1)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</a:t>
            </a:r>
          </a:p>
          <a:p>
            <a:pPr marL="0" indent="0">
              <a:buNone/>
            </a:pPr>
            <a:r>
              <a:rPr lang="en-US" dirty="0"/>
              <a:t>int sum(int a, int b) {</a:t>
            </a:r>
          </a:p>
          <a:p>
            <a:pPr marL="0" indent="0">
              <a:buNone/>
            </a:pPr>
            <a:r>
              <a:rPr lang="en-US" dirty="0"/>
              <a:t>int s = a + b;</a:t>
            </a:r>
          </a:p>
          <a:p>
            <a:pPr marL="0" indent="0">
              <a:buNone/>
            </a:pPr>
            <a:r>
              <a:rPr lang="en-US" dirty="0"/>
              <a:t>return 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45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3D0F-4752-D48E-F555-711D1408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Factorial Algorithm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4256-803E-7A20-39A6-5BE31633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075"/>
            <a:ext cx="10515600" cy="560632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b="1" u="sng" dirty="0"/>
              <a:t>Factorial Definition</a:t>
            </a:r>
          </a:p>
          <a:p>
            <a:pPr marL="0" indent="0">
              <a:buNone/>
            </a:pPr>
            <a:r>
              <a:rPr lang="pt-BR" b="1" dirty="0"/>
              <a:t>n! = n × (n-1) × ... × 1</a:t>
            </a:r>
          </a:p>
          <a:p>
            <a:r>
              <a:rPr lang="en-US" dirty="0"/>
              <a:t>Loop runs n times</a:t>
            </a:r>
          </a:p>
          <a:p>
            <a:r>
              <a:rPr lang="en-US" dirty="0"/>
              <a:t>Time Complexity: O(n)</a:t>
            </a:r>
          </a:p>
          <a:p>
            <a:r>
              <a:rPr lang="en-US" dirty="0"/>
              <a:t>Space Complexity: O(1)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Program: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factorial(int n) {</a:t>
            </a:r>
          </a:p>
          <a:p>
            <a:pPr marL="0" indent="0">
              <a:buNone/>
            </a:pPr>
            <a:r>
              <a:rPr lang="en-US" dirty="0"/>
              <a:t>int fact = 1;</a:t>
            </a:r>
          </a:p>
          <a:p>
            <a:pPr marL="0" indent="0">
              <a:buNone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fact = fact *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fact;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9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8F5F-25CF-2BE1-B49A-3E52C2C8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Aggregate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65EE-8FA4-4578-F547-7D6EC5D31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Aggregate Analysis</a:t>
            </a:r>
            <a:r>
              <a:rPr lang="en-US" dirty="0"/>
              <a:t> analyzes the total cost of a sequence of operations.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Key Idea</a:t>
            </a:r>
          </a:p>
          <a:p>
            <a:r>
              <a:rPr lang="en-US" dirty="0"/>
              <a:t>Average cost per operation over worst-case sequence.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Example</a:t>
            </a:r>
          </a:p>
          <a:p>
            <a:r>
              <a:rPr lang="en-US" dirty="0"/>
              <a:t>Push operation in stack is O(1)</a:t>
            </a:r>
          </a:p>
          <a:p>
            <a:r>
              <a:rPr lang="en-US" dirty="0"/>
              <a:t>Pop operation is O(1)</a:t>
            </a:r>
          </a:p>
          <a:p>
            <a:r>
              <a:rPr lang="en-US" dirty="0"/>
              <a:t>Total cost for n operations is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8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A950-CF77-C1A0-D98B-249FBFA3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Asymptotic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1E015-1F36-BEA2-B0DF-DB1B02151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Used to describe algorithm growth rate.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Types</a:t>
            </a:r>
          </a:p>
          <a:p>
            <a:r>
              <a:rPr lang="en-US" b="1" dirty="0"/>
              <a:t>Big-O (O)</a:t>
            </a:r>
            <a:r>
              <a:rPr lang="en-US" dirty="0"/>
              <a:t> – Upper bound</a:t>
            </a:r>
          </a:p>
          <a:p>
            <a:r>
              <a:rPr lang="en-US" b="1" dirty="0"/>
              <a:t>Big-Omega (Ω)</a:t>
            </a:r>
            <a:r>
              <a:rPr lang="en-US" dirty="0"/>
              <a:t> – Lower bound</a:t>
            </a:r>
          </a:p>
          <a:p>
            <a:r>
              <a:rPr lang="en-US" b="1" dirty="0"/>
              <a:t>Big-Theta (Θ)</a:t>
            </a:r>
            <a:r>
              <a:rPr lang="en-US" dirty="0"/>
              <a:t> – Tight bound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66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3B5D-5E39-DED1-5674-F35A55A2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Big-O Notation : O(n)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B842C-48ED-D3B9-E9E6-E80D8DF8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53311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Represents </a:t>
            </a:r>
            <a:r>
              <a:rPr lang="en-US" b="1" dirty="0"/>
              <a:t>worst-case time complexity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Example:</a:t>
            </a:r>
          </a:p>
          <a:p>
            <a:pPr marL="0" indent="0">
              <a:buNone/>
            </a:pPr>
            <a:r>
              <a:rPr lang="nn-NO" dirty="0"/>
              <a:t>for(int i = 0; i &lt; n; i++) {</a:t>
            </a:r>
          </a:p>
          <a:p>
            <a:pPr marL="0" indent="0">
              <a:buNone/>
            </a:pPr>
            <a:r>
              <a:rPr lang="nn-NO" dirty="0"/>
              <a:t>printf("Hello");</a:t>
            </a:r>
          </a:p>
          <a:p>
            <a:pPr marL="0" indent="0">
              <a:buNone/>
            </a:pPr>
            <a:r>
              <a:rPr lang="nn-NO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8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5082-275D-7BAF-C748-A283A3A7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Big-Omega (</a:t>
            </a:r>
            <a:r>
              <a:rPr lang="el-GR" b="1" dirty="0"/>
              <a:t>Ω) </a:t>
            </a:r>
            <a:r>
              <a:rPr lang="en-US" b="1" dirty="0"/>
              <a:t>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605C2-F5D3-DC5C-8510-291C3B8C5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03213"/>
            <a:ext cx="8946541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Represents </a:t>
            </a:r>
            <a:r>
              <a:rPr lang="en-US" b="1" dirty="0"/>
              <a:t>best-case time complexity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Example: </a:t>
            </a:r>
          </a:p>
          <a:p>
            <a:pPr marL="0" indent="0">
              <a:buNone/>
            </a:pPr>
            <a:r>
              <a:rPr lang="en-US" b="1" u="sng" dirty="0"/>
              <a:t>Searching first element in array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int search(int </a:t>
            </a:r>
            <a:r>
              <a:rPr lang="en-US" dirty="0" err="1"/>
              <a:t>arr</a:t>
            </a:r>
            <a:r>
              <a:rPr lang="en-US" dirty="0"/>
              <a:t>[], int n, int key) {</a:t>
            </a:r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return -1;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2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6F1D-3158-AEBA-F111-651938BF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Big-Theta (</a:t>
            </a:r>
            <a:r>
              <a:rPr lang="el-GR" b="1" dirty="0"/>
              <a:t>Θ) </a:t>
            </a:r>
            <a:r>
              <a:rPr lang="en-US" b="1" dirty="0"/>
              <a:t>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4023-3E27-8EAE-8123-703AC8756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88223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Represents </a:t>
            </a:r>
            <a:r>
              <a:rPr lang="en-US" b="1" dirty="0"/>
              <a:t>average or exact bound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Example:</a:t>
            </a:r>
          </a:p>
          <a:p>
            <a:pPr marL="0" indent="0">
              <a:buNone/>
            </a:pPr>
            <a:r>
              <a:rPr lang="nn-NO" dirty="0"/>
              <a:t>for(int i = 0; i &lt; n; i++) {</a:t>
            </a:r>
          </a:p>
          <a:p>
            <a:pPr marL="0" indent="0">
              <a:buNone/>
            </a:pPr>
            <a:r>
              <a:rPr lang="nn-NO" dirty="0"/>
              <a:t>printf("Hi");</a:t>
            </a:r>
          </a:p>
          <a:p>
            <a:pPr marL="0" indent="0">
              <a:buNone/>
            </a:pPr>
            <a:r>
              <a:rPr lang="nn-NO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56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823A-E73C-792C-EB13-03D326C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55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Geometrical Interpretation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002EE4-5E1E-20FF-FF8D-AA55BD645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5267"/>
            <a:ext cx="56163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O(g(n))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Curve lies above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Ω(g(n))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Curve lies below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Θ(g(n))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Curve lies between</a:t>
            </a:r>
          </a:p>
        </p:txBody>
      </p:sp>
    </p:spTree>
    <p:extLst>
      <p:ext uri="{BB962C8B-B14F-4D97-AF65-F5344CB8AC3E}">
        <p14:creationId xmlns:p14="http://schemas.microsoft.com/office/powerpoint/2010/main" val="3573491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B472-2C50-F4A4-B2C3-38EC8631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86256" cy="836436"/>
          </a:xfrm>
        </p:spPr>
        <p:txBody>
          <a:bodyPr/>
          <a:lstStyle/>
          <a:p>
            <a:pPr algn="ctr"/>
            <a:r>
              <a:rPr lang="en-US" b="1" dirty="0"/>
              <a:t>Recursion &amp; Recursive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20DB-7B27-93DC-17A0-F7B61CEE4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98282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recursive algorithm</a:t>
            </a:r>
            <a:r>
              <a:rPr lang="en-US" dirty="0"/>
              <a:t> calls itself to solve a smaller problem.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u="sng" dirty="0"/>
              <a:t>Example: Factorial (Recursive)</a:t>
            </a:r>
          </a:p>
          <a:p>
            <a:pPr marL="0" indent="0">
              <a:buNone/>
            </a:pPr>
            <a:r>
              <a:rPr lang="en-US" dirty="0"/>
              <a:t>int factorial(int n) {</a:t>
            </a:r>
          </a:p>
          <a:p>
            <a:pPr marL="0" indent="0">
              <a:buNone/>
            </a:pPr>
            <a:r>
              <a:rPr lang="en-US" dirty="0"/>
              <a:t>if(n == 0)</a:t>
            </a:r>
          </a:p>
          <a:p>
            <a:pPr marL="0" indent="0">
              <a:buNone/>
            </a:pPr>
            <a:r>
              <a:rPr lang="en-US" dirty="0"/>
              <a:t>return 1;</a:t>
            </a:r>
          </a:p>
          <a:p>
            <a:pPr marL="0" indent="0">
              <a:buNone/>
            </a:pPr>
            <a:r>
              <a:rPr lang="en-US" dirty="0"/>
              <a:t>return n * factorial(n - 1);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06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160B-D1A0-DD6C-80E9-8F7FE1EB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Recurrence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08736-0B04-7052-BC3C-1898CEEDC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96151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recurrence relation</a:t>
            </a:r>
            <a:r>
              <a:rPr lang="en-US" dirty="0"/>
              <a:t> defines time complexity of recursive algorithms.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T(n) = T</a:t>
            </a:r>
          </a:p>
          <a:p>
            <a:r>
              <a:rPr lang="en-US" dirty="0"/>
              <a:t>Used in factorial algorithm(n-1) + 1</a:t>
            </a:r>
          </a:p>
        </p:txBody>
      </p:sp>
    </p:spTree>
    <p:extLst>
      <p:ext uri="{BB962C8B-B14F-4D97-AF65-F5344CB8AC3E}">
        <p14:creationId xmlns:p14="http://schemas.microsoft.com/office/powerpoint/2010/main" val="259863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295F-FD4C-B5E4-DF30-E9DA2FCE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Recursion Tree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AC8EC-2B57-BD56-1154-DE874176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88223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Breaks recurrence into tree form.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</a:t>
            </a:r>
          </a:p>
          <a:p>
            <a:r>
              <a:rPr lang="pt-BR" dirty="0"/>
              <a:t>T(n) = 2T(n/2) + n</a:t>
            </a:r>
          </a:p>
          <a:p>
            <a:r>
              <a:rPr lang="en-US" dirty="0"/>
              <a:t>Each level cost = n</a:t>
            </a:r>
          </a:p>
          <a:p>
            <a:r>
              <a:rPr lang="en-US" dirty="0"/>
              <a:t>Levels = log n</a:t>
            </a:r>
          </a:p>
          <a:p>
            <a:r>
              <a:rPr lang="pt-BR" dirty="0"/>
              <a:t>Time Complexity = O(n log 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66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54C3-3228-DA9F-CF3F-491F907E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4EA6-3830-514D-E561-4645FDEC0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83292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Steps</a:t>
            </a:r>
            <a:r>
              <a:rPr lang="en-US" u="sng" dirty="0"/>
              <a:t>:</a:t>
            </a:r>
          </a:p>
          <a:p>
            <a:r>
              <a:rPr lang="en-US" dirty="0"/>
              <a:t>Guess the solution</a:t>
            </a:r>
          </a:p>
          <a:p>
            <a:r>
              <a:rPr lang="en-US" dirty="0"/>
              <a:t>Substitute into recurrence</a:t>
            </a:r>
          </a:p>
          <a:p>
            <a:r>
              <a:rPr lang="en-US" dirty="0"/>
              <a:t>Prove by induction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Example:</a:t>
            </a:r>
          </a:p>
          <a:p>
            <a:r>
              <a:rPr lang="en-US" dirty="0"/>
              <a:t>T(n) = T(n/2) + 1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Solution: O(log 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97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8FD3-DB27-AEF7-33FD-D3899311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Master’s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0C9C-3E23-09A2-F6F9-B2F7C89D0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53312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Used to solve recurrences of form:</a:t>
            </a:r>
          </a:p>
          <a:p>
            <a:r>
              <a:rPr lang="pt-BR" dirty="0"/>
              <a:t>T(n) = aT(n/b) + f(n)</a:t>
            </a:r>
          </a:p>
          <a:p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/>
              <a:t>Example:</a:t>
            </a:r>
          </a:p>
          <a:p>
            <a:r>
              <a:rPr lang="pt-BR" dirty="0"/>
              <a:t>T(n) = 2T(n/2) + n</a:t>
            </a:r>
          </a:p>
          <a:p>
            <a:r>
              <a:rPr lang="pt-BR" dirty="0"/>
              <a:t>a = 2, b = 2, f(n) = n</a:t>
            </a:r>
          </a:p>
          <a:p>
            <a:r>
              <a:rPr lang="pt-BR" b="1" dirty="0"/>
              <a:t>Case 2 → O(n log n)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2220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6706-A6C0-F4F1-A3F4-B71C3414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888" y="2448757"/>
            <a:ext cx="10484224" cy="4879228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latin typeface="Bernard MT Condensed" panose="02050806060905020404" pitchFamily="18" charset="0"/>
                <a:cs typeface="Aharoni" panose="02010803020104030203" pitchFamily="2" charset="-79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3213873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797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Aharoni</vt:lpstr>
      <vt:lpstr>Arial</vt:lpstr>
      <vt:lpstr>Bernard MT Condensed</vt:lpstr>
      <vt:lpstr>Century Gothic</vt:lpstr>
      <vt:lpstr>Courier New</vt:lpstr>
      <vt:lpstr>Wingdings</vt:lpstr>
      <vt:lpstr>Wingdings 3</vt:lpstr>
      <vt:lpstr>Ion</vt:lpstr>
      <vt:lpstr>Foundation of Algorithm Analysis </vt:lpstr>
      <vt:lpstr>What is an Algorithm?</vt:lpstr>
      <vt:lpstr>RAM Model</vt:lpstr>
      <vt:lpstr>Time Complexity</vt:lpstr>
      <vt:lpstr>Space Complexity</vt:lpstr>
      <vt:lpstr>Factorial Algorithm Analysis </vt:lpstr>
      <vt:lpstr>Aggregate Analysis</vt:lpstr>
      <vt:lpstr>Asymptotic Notations</vt:lpstr>
      <vt:lpstr>Big-O Notation : O(n)</vt:lpstr>
      <vt:lpstr>Big-Omega (Ω) Notation</vt:lpstr>
      <vt:lpstr>Big-Theta (Θ) Notation</vt:lpstr>
      <vt:lpstr>Geometrical Interpretation</vt:lpstr>
      <vt:lpstr>Recursion &amp; Recursive Algorithms</vt:lpstr>
      <vt:lpstr>Recurrence Relations</vt:lpstr>
      <vt:lpstr>Recursion Tree Method</vt:lpstr>
      <vt:lpstr>Substitution Method</vt:lpstr>
      <vt:lpstr>Master’s Theorem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2026-01-21T10:48:39Z</dcterms:created>
  <dcterms:modified xsi:type="dcterms:W3CDTF">2026-01-21T11:29:50Z</dcterms:modified>
</cp:coreProperties>
</file>